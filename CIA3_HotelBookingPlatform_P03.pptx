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66928"/>
            <a:ext cx="658368" cy="65836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0" descr="/home/claude/ppt/icons/hot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508" y="652516"/>
            <a:ext cx="487192" cy="4871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5669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P03  —  CIA-3 PROJECT DEVELOPMENT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41732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Room Booking &amp;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Reservation Platform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30632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"Grand Horizon" — a multi-property backend for real-time inventory, dynamic pricing and front-desk operations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2920" y="370332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141A47"/>
          </a:solidFill>
          <a:ln w="12700">
            <a:solidFill>
              <a:srgbClr val="33397A"/>
            </a:solidFill>
            <a:prstDash val="solid"/>
          </a:ln>
        </p:spPr>
      </p:sp>
      <p:pic>
        <p:nvPicPr>
          <p:cNvPr id="10" name="Image 1" descr="/home/claude/ppt/icons/n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78561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41832" y="3703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587752" y="370332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141A47"/>
          </a:solidFill>
          <a:ln w="12700">
            <a:solidFill>
              <a:srgbClr val="33397A"/>
            </a:solidFill>
            <a:prstDash val="solid"/>
          </a:ln>
        </p:spPr>
      </p:sp>
      <p:pic>
        <p:nvPicPr>
          <p:cNvPr id="13" name="Image 2" descr="/home/claude/ppt/icons/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192" y="378561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026664" y="3703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672584" y="370332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141A47"/>
          </a:solidFill>
          <a:ln w="12700">
            <a:solidFill>
              <a:srgbClr val="33397A"/>
            </a:solidFill>
            <a:prstDash val="solid"/>
          </a:ln>
        </p:spPr>
      </p:sp>
      <p:pic>
        <p:nvPicPr>
          <p:cNvPr id="16" name="Image 3" descr="/home/claude/ppt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3785616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111496" y="3703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6757416" y="370332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141A47"/>
          </a:solidFill>
          <a:ln w="12700">
            <a:solidFill>
              <a:srgbClr val="33397A"/>
            </a:solidFill>
            <a:prstDash val="solid"/>
          </a:ln>
        </p:spPr>
      </p:sp>
      <p:pic>
        <p:nvPicPr>
          <p:cNvPr id="19" name="Image 4" descr="/home/claude/ppt/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8856" y="3785616"/>
            <a:ext cx="292608" cy="29260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196328" y="3703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100" dirty="0"/>
          </a:p>
        </p:txBody>
      </p:sp>
      <p:sp>
        <p:nvSpPr>
          <p:cNvPr id="21" name="Text 14"/>
          <p:cNvSpPr txBox="1"/>
          <p:nvPr/>
        </p:nvSpPr>
        <p:spPr>
          <a:xfrm>
            <a:off x="502920" y="44348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JavaScript Backend Frameworks (Node.js &amp; Express JS)  —  5th Semester  •  Christ University  •  Section 5BTCSAIML B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50292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5257800"/>
          <a:ext cx="10607040" cy="1371600"/>
        </p:xfrm>
        <a:graphic>
          <a:graphicData uri="http://schemas.openxmlformats.org/drawingml/2006/table">
            <a:tbl>
              <a:tblPr/>
              <a:tblGrid>
                <a:gridCol w="4023360"/>
                <a:gridCol w="2011680"/>
                <a:gridCol w="2286000"/>
                <a:gridCol w="22860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Mary Johnson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2462039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5BTCSAIML 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4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Anki Pai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2462036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5BTCSAIML 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4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Allen Prem Varghese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2462030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5BTCSAIML 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4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Ronit Anegundi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2462188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5BTCSAIML 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47"/>
                    </a:solidFill>
                  </a:tcPr>
                </a:tc>
              </a:tr>
            </a:tbl>
          </a:graphicData>
        </a:graphic>
      </p:graphicFrame>
      <p:sp>
        <p:nvSpPr>
          <p:cNvPr id="24" name="Text 16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Horizon — Hotel Booking Platform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a Multi-Property Hotel Chain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087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boutique hotel chain operating several properties needs a reliable backend to run bookings at scale — without double-booking rooms, without hardcoding seasonal rates, and without losing track of which team member changed what.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EEF3FD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788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ppt/icons/magnifyingGl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221" y="2862621"/>
            <a:ext cx="419527" cy="41952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04088" y="347472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Overbooking Risk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704088" y="3977640"/>
            <a:ext cx="21122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or spreadsheet-based inventory cannot guarantee that two guests are never assigned the same room on overlapping dates.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18688" y="25146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EEF3FD"/>
          </a:solidFill>
          <a:ln/>
        </p:spPr>
      </p:sp>
      <p:sp>
        <p:nvSpPr>
          <p:cNvPr id="11" name="Shape 8"/>
          <p:cNvSpPr/>
          <p:nvPr/>
        </p:nvSpPr>
        <p:spPr>
          <a:xfrm>
            <a:off x="3447288" y="2788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ppt/icons/moneyBillWa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989" y="2862621"/>
            <a:ext cx="419527" cy="41952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19856" y="347472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Pricing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3419856" y="3977640"/>
            <a:ext cx="21122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fixed nightly rate cannot capture weekend surges or seasonal demand — leaving revenue on the table.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934456" y="25146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EEF3FD"/>
          </a:solidFill>
          <a:ln/>
        </p:spPr>
      </p:sp>
      <p:sp>
        <p:nvSpPr>
          <p:cNvPr id="16" name="Shape 12"/>
          <p:cNvSpPr/>
          <p:nvPr/>
        </p:nvSpPr>
        <p:spPr>
          <a:xfrm>
            <a:off x="6163056" y="2788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ppt/icons/us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757" y="2862621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135624" y="347472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Role Separation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6135624" y="3977640"/>
            <a:ext cx="21122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Guests, front-desk staff and property admins need different capabilities — unauthenticated or over-privileged access is a security gap.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650224" y="25146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EEF3FD"/>
          </a:solidFill>
          <a:ln/>
        </p:spPr>
      </p:sp>
      <p:sp>
        <p:nvSpPr>
          <p:cNvPr id="21" name="Shape 16"/>
          <p:cNvSpPr/>
          <p:nvPr/>
        </p:nvSpPr>
        <p:spPr>
          <a:xfrm>
            <a:off x="8878824" y="2788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/home/claude/ppt/icons/broo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2525" y="2862621"/>
            <a:ext cx="419527" cy="41952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851392" y="347472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Disconnected Housekeeping</a:t>
            </a:r>
            <a:endParaRPr lang="en-US" sz="1450" dirty="0"/>
          </a:p>
        </p:txBody>
      </p:sp>
      <p:sp>
        <p:nvSpPr>
          <p:cNvPr id="24" name="Text 18"/>
          <p:cNvSpPr txBox="1"/>
          <p:nvPr/>
        </p:nvSpPr>
        <p:spPr>
          <a:xfrm>
            <a:off x="8851392" y="3977640"/>
            <a:ext cx="21122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desk and housekeeping teams need a shared, real-time view of which rooms are actually clean and ready.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Horizon — Hotel Booking Platform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SETS OUT TO 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300" y="1711300"/>
            <a:ext cx="372161" cy="37216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61288" y="1554480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Secure, role-based access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161288" y="1883664"/>
            <a:ext cx="4507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with bcrypt-hashed passwords, enforcing three roles — guest, staff and admin — on every protected route.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5943600" y="1645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home/claude/ppt/icons/magnifyingGl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8980" y="1711300"/>
            <a:ext cx="372161" cy="37216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601968" y="1554480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availability engine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6601968" y="1883664"/>
            <a:ext cx="4507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double-booking with an interval-overlap check across all active reservations before a booking is confirmed.</a:t>
            </a:r>
            <a:endParaRPr lang="en-US" sz="1080" dirty="0"/>
          </a:p>
        </p:txBody>
      </p:sp>
      <p:sp>
        <p:nvSpPr>
          <p:cNvPr id="12" name="Shape 8"/>
          <p:cNvSpPr/>
          <p:nvPr/>
        </p:nvSpPr>
        <p:spPr>
          <a:xfrm>
            <a:off x="502920" y="31821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ppt/icons/moneyBill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300" y="3247492"/>
            <a:ext cx="372161" cy="37216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61288" y="3090672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Dynamic, rule-based pricing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1161288" y="3419856"/>
            <a:ext cx="4507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nightly rates night-by-night, applying seasonal and weekend multipliers on top of a room type’s base price.</a:t>
            </a:r>
            <a:endParaRPr lang="en-US" sz="1080" dirty="0"/>
          </a:p>
        </p:txBody>
      </p:sp>
      <p:sp>
        <p:nvSpPr>
          <p:cNvPr id="16" name="Shape 11"/>
          <p:cNvSpPr/>
          <p:nvPr/>
        </p:nvSpPr>
        <p:spPr>
          <a:xfrm>
            <a:off x="5943600" y="31821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/home/claude/ppt/icons/rou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8980" y="3247492"/>
            <a:ext cx="372161" cy="372161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601968" y="3090672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booking lifecycle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6601968" y="3419856"/>
            <a:ext cx="4507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full guest journey — reserved → confirmed → checked-in → checked-out — as an explicit, guarded state machine.</a:t>
            </a:r>
            <a:endParaRPr lang="en-US" sz="1080" dirty="0"/>
          </a:p>
        </p:txBody>
      </p:sp>
      <p:sp>
        <p:nvSpPr>
          <p:cNvPr id="20" name="Shape 14"/>
          <p:cNvSpPr/>
          <p:nvPr/>
        </p:nvSpPr>
        <p:spPr>
          <a:xfrm>
            <a:off x="502920" y="471830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4" descr="/home/claude/ppt/icons/broo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300" y="4783684"/>
            <a:ext cx="372161" cy="372161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61288" y="462686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Front-desk &amp; housekeeping sync</a:t>
            </a:r>
            <a:endParaRPr lang="en-US" sz="1350" dirty="0"/>
          </a:p>
        </p:txBody>
      </p:sp>
      <p:sp>
        <p:nvSpPr>
          <p:cNvPr id="23" name="Text 16"/>
          <p:cNvSpPr txBox="1"/>
          <p:nvPr/>
        </p:nvSpPr>
        <p:spPr>
          <a:xfrm>
            <a:off x="1161288" y="4956048"/>
            <a:ext cx="4507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check-in eligibility directly to a room’s live housekeeping status, and auto-flag rooms dirty on checkout.</a:t>
            </a:r>
            <a:endParaRPr lang="en-US" sz="1080" dirty="0"/>
          </a:p>
        </p:txBody>
      </p:sp>
      <p:sp>
        <p:nvSpPr>
          <p:cNvPr id="24" name="Shape 17"/>
          <p:cNvSpPr/>
          <p:nvPr/>
        </p:nvSpPr>
        <p:spPr>
          <a:xfrm>
            <a:off x="5943600" y="471830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5" descr="/home/claude/ppt/icons/chartLin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8980" y="4783684"/>
            <a:ext cx="372161" cy="372161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601968" y="462686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Validation, error-handling &amp; reporting</a:t>
            </a:r>
            <a:endParaRPr lang="en-US" sz="1350" dirty="0"/>
          </a:p>
        </p:txBody>
      </p:sp>
      <p:sp>
        <p:nvSpPr>
          <p:cNvPr id="27" name="Text 19"/>
          <p:cNvSpPr txBox="1"/>
          <p:nvPr/>
        </p:nvSpPr>
        <p:spPr>
          <a:xfrm>
            <a:off x="6601968" y="4956048"/>
            <a:ext cx="4507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request validation (Joi) and error responses, and expose occupancy / revenue summaries for admins.</a:t>
            </a:r>
            <a:endParaRPr lang="en-US" sz="1080" dirty="0"/>
          </a:p>
        </p:txBody>
      </p:sp>
      <p:sp>
        <p:nvSpPr>
          <p:cNvPr id="28" name="Text 20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Horizon — Hotel Booking Platform</a:t>
            </a:r>
            <a:endParaRPr lang="en-US" sz="900" dirty="0"/>
          </a:p>
        </p:txBody>
      </p:sp>
      <p:sp>
        <p:nvSpPr>
          <p:cNvPr id="29" name="Text 21"/>
          <p:cNvSpPr txBox="1"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ACTUALLY USED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package.json — every entry below is an active dependency in the repository.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487168" cy="1508760"/>
          </a:xfrm>
          <a:prstGeom prst="roundRect">
            <a:avLst>
              <a:gd name="adj" fmla="val 4848"/>
            </a:avLst>
          </a:prstGeom>
          <a:solidFill>
            <a:srgbClr val="141A47"/>
          </a:solidFill>
          <a:ln w="12700">
            <a:solidFill>
              <a:srgbClr val="333A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90472" y="2148840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7" name="Image 0" descr="/home/claude/ppt/icons/n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040" y="2215408"/>
            <a:ext cx="378927" cy="37892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4360" y="274320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044952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runtime (v18+)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72968" y="1965960"/>
            <a:ext cx="2487168" cy="1508760"/>
          </a:xfrm>
          <a:prstGeom prst="roundRect">
            <a:avLst>
              <a:gd name="adj" fmla="val 4848"/>
            </a:avLst>
          </a:prstGeom>
          <a:solidFill>
            <a:srgbClr val="141A47"/>
          </a:solidFill>
          <a:ln w="12700">
            <a:solidFill>
              <a:srgbClr val="333A7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60520" y="2148840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2" name="Image 1" descr="/home/claude/ppt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088" y="2215408"/>
            <a:ext cx="378927" cy="37892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264408" y="274320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Express.js 4.19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3264408" y="3044952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&amp; routing layer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843016" y="1965960"/>
            <a:ext cx="2487168" cy="1508760"/>
          </a:xfrm>
          <a:prstGeom prst="roundRect">
            <a:avLst>
              <a:gd name="adj" fmla="val 4848"/>
            </a:avLst>
          </a:prstGeom>
          <a:solidFill>
            <a:srgbClr val="141A47"/>
          </a:solidFill>
          <a:ln w="12700">
            <a:solidFill>
              <a:srgbClr val="333A7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830568" y="2148840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7" name="Image 2" descr="/home/claude/ppt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136" y="2215408"/>
            <a:ext cx="378927" cy="3789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934456" y="274320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+ Mongoose 8.5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5934456" y="3044952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database &amp; ODM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8513064" y="1965960"/>
            <a:ext cx="2487168" cy="1508760"/>
          </a:xfrm>
          <a:prstGeom prst="roundRect">
            <a:avLst>
              <a:gd name="adj" fmla="val 4848"/>
            </a:avLst>
          </a:prstGeom>
          <a:solidFill>
            <a:srgbClr val="141A47"/>
          </a:solidFill>
          <a:ln w="12700">
            <a:solidFill>
              <a:srgbClr val="333A7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500616" y="2148840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2" name="Image 3" descr="/home/claude/ppt/icons/k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184" y="2215408"/>
            <a:ext cx="378927" cy="37892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604504" y="274320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jsonwebtoken 9.0.2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8604504" y="3044952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issuing &amp; verification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502920" y="3703320"/>
            <a:ext cx="2487168" cy="1508760"/>
          </a:xfrm>
          <a:prstGeom prst="roundRect">
            <a:avLst>
              <a:gd name="adj" fmla="val 4848"/>
            </a:avLst>
          </a:prstGeom>
          <a:solidFill>
            <a:srgbClr val="141A47"/>
          </a:solidFill>
          <a:ln w="12700">
            <a:solidFill>
              <a:srgbClr val="333A7D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490472" y="3886200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7" name="Image 4" descr="/home/claude/ppt/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7040" y="3952768"/>
            <a:ext cx="378927" cy="378927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94360" y="448056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bcryptjs 2.4.3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594360" y="4782312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 (10 salt rounds)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3172968" y="3703320"/>
            <a:ext cx="2487168" cy="1508760"/>
          </a:xfrm>
          <a:prstGeom prst="roundRect">
            <a:avLst>
              <a:gd name="adj" fmla="val 4848"/>
            </a:avLst>
          </a:prstGeom>
          <a:solidFill>
            <a:srgbClr val="141A47"/>
          </a:solidFill>
          <a:ln w="12700">
            <a:solidFill>
              <a:srgbClr val="333A7D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160520" y="3886200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2" name="Image 5" descr="/home/claude/ppt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7088" y="3952768"/>
            <a:ext cx="378927" cy="378927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3264408" y="448056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 17.13.3</a:t>
            </a:r>
            <a:endParaRPr lang="en-US" sz="1250" dirty="0"/>
          </a:p>
        </p:txBody>
      </p:sp>
      <p:sp>
        <p:nvSpPr>
          <p:cNvPr id="34" name="Text 26"/>
          <p:cNvSpPr txBox="1"/>
          <p:nvPr/>
        </p:nvSpPr>
        <p:spPr>
          <a:xfrm>
            <a:off x="3264408" y="4782312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Middleware-based request validation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5843016" y="3703320"/>
            <a:ext cx="2487168" cy="1508760"/>
          </a:xfrm>
          <a:prstGeom prst="roundRect">
            <a:avLst>
              <a:gd name="adj" fmla="val 4848"/>
            </a:avLst>
          </a:prstGeom>
          <a:solidFill>
            <a:srgbClr val="141A47"/>
          </a:solidFill>
          <a:ln w="12700">
            <a:solidFill>
              <a:srgbClr val="333A7D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6830568" y="3886200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7" name="Image 6" descr="/home/claude/ppt/icons/gear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7136" y="3952768"/>
            <a:ext cx="378927" cy="378927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5934456" y="448056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Morgan + CORS + dotenv</a:t>
            </a:r>
            <a:endParaRPr lang="en-US" sz="1250" dirty="0"/>
          </a:p>
        </p:txBody>
      </p:sp>
      <p:sp>
        <p:nvSpPr>
          <p:cNvPr id="39" name="Text 30"/>
          <p:cNvSpPr txBox="1"/>
          <p:nvPr/>
        </p:nvSpPr>
        <p:spPr>
          <a:xfrm>
            <a:off x="5934456" y="4782312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cross-origin &amp; config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8513064" y="3703320"/>
            <a:ext cx="2487168" cy="1508760"/>
          </a:xfrm>
          <a:prstGeom prst="roundRect">
            <a:avLst>
              <a:gd name="adj" fmla="val 4848"/>
            </a:avLst>
          </a:prstGeom>
          <a:solidFill>
            <a:srgbClr val="141A47"/>
          </a:solidFill>
          <a:ln w="12700">
            <a:solidFill>
              <a:srgbClr val="333A7D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9500616" y="3886200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42" name="Image 7" descr="/home/claude/ppt/icons/cod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67184" y="3952768"/>
            <a:ext cx="378927" cy="378927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8604504" y="448056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Vanilla HTML / CSS / JS</a:t>
            </a:r>
            <a:endParaRPr lang="en-US" sz="1250" dirty="0"/>
          </a:p>
        </p:txBody>
      </p:sp>
      <p:sp>
        <p:nvSpPr>
          <p:cNvPr id="44" name="Text 34"/>
          <p:cNvSpPr txBox="1"/>
          <p:nvPr/>
        </p:nvSpPr>
        <p:spPr>
          <a:xfrm>
            <a:off x="8604504" y="4782312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demo frontend (public/)</a:t>
            </a:r>
            <a:endParaRPr lang="en-US" sz="950" dirty="0"/>
          </a:p>
        </p:txBody>
      </p:sp>
      <p:sp>
        <p:nvSpPr>
          <p:cNvPr id="45" name="Text 35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Horizon — Hotel Booking Platform</a:t>
            </a:r>
            <a:endParaRPr lang="en-US" sz="900" dirty="0"/>
          </a:p>
        </p:txBody>
      </p:sp>
      <p:sp>
        <p:nvSpPr>
          <p:cNvPr id="46" name="Text 36"/>
          <p:cNvSpPr txBox="1"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FLOW, VERIFIED IN SERVER.JS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63040" y="1508760"/>
            <a:ext cx="6400800" cy="566928"/>
          </a:xfrm>
          <a:prstGeom prst="roundRect">
            <a:avLst>
              <a:gd name="adj" fmla="val 11290"/>
            </a:avLst>
          </a:prstGeom>
          <a:solidFill>
            <a:srgbClr val="EEF3FD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45920" y="15087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794760" y="150876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collection (37 requests)  •  vanilla JS frontend (public/)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4581144" y="2075688"/>
            <a:ext cx="164592" cy="164592"/>
          </a:xfrm>
          <a:prstGeom prst="downArrow">
            <a:avLst/>
          </a:prstGeom>
          <a:solidFill>
            <a:srgbClr val="E8A33D"/>
          </a:solidFill>
          <a:ln/>
        </p:spPr>
      </p:sp>
      <p:sp>
        <p:nvSpPr>
          <p:cNvPr id="8" name="Shape 6"/>
          <p:cNvSpPr/>
          <p:nvPr/>
        </p:nvSpPr>
        <p:spPr>
          <a:xfrm>
            <a:off x="1463040" y="2240280"/>
            <a:ext cx="6400800" cy="566928"/>
          </a:xfrm>
          <a:prstGeom prst="roundRect">
            <a:avLst>
              <a:gd name="adj" fmla="val 11290"/>
            </a:avLst>
          </a:prstGeom>
          <a:solidFill>
            <a:srgbClr val="EEF3FD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45920" y="22402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 Routes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794760" y="224028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routers mounted under /api  (auth, hotels, room-types, rooms, pricing-rules, bookings, guests, admin)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581144" y="2807208"/>
            <a:ext cx="164592" cy="164592"/>
          </a:xfrm>
          <a:prstGeom prst="downArrow">
            <a:avLst/>
          </a:prstGeom>
          <a:solidFill>
            <a:srgbClr val="E8A33D"/>
          </a:solidFill>
          <a:ln/>
        </p:spPr>
      </p:sp>
      <p:sp>
        <p:nvSpPr>
          <p:cNvPr id="12" name="Shape 10"/>
          <p:cNvSpPr/>
          <p:nvPr/>
        </p:nvSpPr>
        <p:spPr>
          <a:xfrm>
            <a:off x="1463040" y="2971800"/>
            <a:ext cx="6400800" cy="566928"/>
          </a:xfrm>
          <a:prstGeom prst="roundRect">
            <a:avLst>
              <a:gd name="adj" fmla="val 1129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45920" y="29718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Middleware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297180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validate() — Joi schemas   |   protect / authorize() — JWT + RBAC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4581144" y="3538728"/>
            <a:ext cx="164592" cy="164592"/>
          </a:xfrm>
          <a:prstGeom prst="downArrow">
            <a:avLst/>
          </a:prstGeom>
          <a:solidFill>
            <a:srgbClr val="E8A33D"/>
          </a:solidFill>
          <a:ln/>
        </p:spPr>
      </p:sp>
      <p:sp>
        <p:nvSpPr>
          <p:cNvPr id="16" name="Shape 14"/>
          <p:cNvSpPr/>
          <p:nvPr/>
        </p:nvSpPr>
        <p:spPr>
          <a:xfrm>
            <a:off x="1463040" y="3703320"/>
            <a:ext cx="6400800" cy="566928"/>
          </a:xfrm>
          <a:prstGeom prst="roundRect">
            <a:avLst>
              <a:gd name="adj" fmla="val 11290"/>
            </a:avLst>
          </a:prstGeom>
          <a:solidFill>
            <a:srgbClr val="EEF3FD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45920" y="37033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794760" y="370332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controllers holding business logic (pricing engine, availability, cancellation policy, reports)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581144" y="4270248"/>
            <a:ext cx="164592" cy="164592"/>
          </a:xfrm>
          <a:prstGeom prst="downArrow">
            <a:avLst/>
          </a:prstGeom>
          <a:solidFill>
            <a:srgbClr val="E8A33D"/>
          </a:solidFill>
          <a:ln/>
        </p:spPr>
      </p:sp>
      <p:sp>
        <p:nvSpPr>
          <p:cNvPr id="20" name="Shape 18"/>
          <p:cNvSpPr/>
          <p:nvPr/>
        </p:nvSpPr>
        <p:spPr>
          <a:xfrm>
            <a:off x="1463040" y="4434840"/>
            <a:ext cx="6400800" cy="566928"/>
          </a:xfrm>
          <a:prstGeom prst="roundRect">
            <a:avLst>
              <a:gd name="adj" fmla="val 11290"/>
            </a:avLst>
          </a:prstGeom>
          <a:solidFill>
            <a:srgbClr val="EEF3FD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45920" y="44348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Mongoose Models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794760" y="443484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schemas: User, Hotel, RoomType, Room, PricingRule, Booking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4581144" y="5001768"/>
            <a:ext cx="164592" cy="164592"/>
          </a:xfrm>
          <a:prstGeom prst="downArrow">
            <a:avLst/>
          </a:prstGeom>
          <a:solidFill>
            <a:srgbClr val="E8A33D"/>
          </a:solidFill>
          <a:ln/>
        </p:spPr>
      </p:sp>
      <p:sp>
        <p:nvSpPr>
          <p:cNvPr id="24" name="Shape 22"/>
          <p:cNvSpPr/>
          <p:nvPr/>
        </p:nvSpPr>
        <p:spPr>
          <a:xfrm>
            <a:off x="1463040" y="5166360"/>
            <a:ext cx="6400800" cy="566928"/>
          </a:xfrm>
          <a:prstGeom prst="roundRect">
            <a:avLst>
              <a:gd name="adj" fmla="val 1129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645920" y="51663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794760" y="516636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store, accessed exclusively through Mongoose (config/db.js)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8275320" y="1508760"/>
            <a:ext cx="2926080" cy="4224528"/>
          </a:xfrm>
          <a:prstGeom prst="roundRect">
            <a:avLst>
              <a:gd name="adj" fmla="val 2500"/>
            </a:avLst>
          </a:prstGeom>
          <a:solidFill>
            <a:srgbClr val="1E2761"/>
          </a:solidFill>
          <a:ln/>
        </p:spPr>
      </p:sp>
      <p:sp>
        <p:nvSpPr>
          <p:cNvPr id="28" name="Shape 26"/>
          <p:cNvSpPr/>
          <p:nvPr/>
        </p:nvSpPr>
        <p:spPr>
          <a:xfrm>
            <a:off x="9464040" y="173736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9" name="Image 0" descr="/home/claude/ppt/icons/triangleExcla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5363" y="1808683"/>
            <a:ext cx="405994" cy="405994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8412480" y="2423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 Error Handling</a:t>
            </a:r>
            <a:endParaRPr lang="en-US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8458200" y="2926080"/>
            <a:ext cx="256032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notFound + errorHandler are registered last in server.js and catch every thrown ApiError, Mongoose CastError, ValidationError and duplicate-key error — returning one consistent JSON shape.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Horizon — Hotel Booking Platform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12 REQUIRED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Modules — 13 Implemented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92640" y="502920"/>
            <a:ext cx="1993392" cy="502920"/>
          </a:xfrm>
          <a:prstGeom prst="roundRect">
            <a:avLst>
              <a:gd name="adj" fmla="val 4909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92640" y="50292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12 ✓ met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417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Setup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020824"/>
            <a:ext cx="2606040" cy="1402080"/>
          </a:xfrm>
          <a:prstGeom prst="roundRect">
            <a:avLst>
              <a:gd name="adj" fmla="val 3913"/>
            </a:avLst>
          </a:prstGeom>
          <a:solidFill>
            <a:srgbClr val="EEF3FD"/>
          </a:solidFill>
          <a:ln/>
        </p:spPr>
      </p:sp>
      <p:sp>
        <p:nvSpPr>
          <p:cNvPr id="9" name="Shape 7"/>
          <p:cNvSpPr/>
          <p:nvPr/>
        </p:nvSpPr>
        <p:spPr>
          <a:xfrm>
            <a:off x="612648" y="2538984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2648" y="2538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2075688"/>
            <a:ext cx="1965960" cy="1292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Registration &amp; Authentication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532632"/>
            <a:ext cx="2606040" cy="1402080"/>
          </a:xfrm>
          <a:prstGeom prst="roundRect">
            <a:avLst>
              <a:gd name="adj" fmla="val 3913"/>
            </a:avLst>
          </a:prstGeom>
          <a:solidFill>
            <a:srgbClr val="EEF3FD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4050792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2648" y="4050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33272" y="3587496"/>
            <a:ext cx="1965960" cy="1292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&amp; Property Management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5044440"/>
            <a:ext cx="2606040" cy="1402080"/>
          </a:xfrm>
          <a:prstGeom prst="roundRect">
            <a:avLst>
              <a:gd name="adj" fmla="val 3913"/>
            </a:avLst>
          </a:prstGeom>
          <a:solidFill>
            <a:srgbClr val="EEF3FD"/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" y="556260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2648" y="5562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33272" y="5099304"/>
            <a:ext cx="1965960" cy="1292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Type &amp; Inventory Management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36976" y="141732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3E4A9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236976" y="1417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Engine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36976" y="2020824"/>
            <a:ext cx="2606040" cy="1024128"/>
          </a:xfrm>
          <a:prstGeom prst="roundRect">
            <a:avLst>
              <a:gd name="adj" fmla="val 5357"/>
            </a:avLst>
          </a:prstGeom>
          <a:solidFill>
            <a:srgbClr val="EEF3FD"/>
          </a:solidFill>
          <a:ln/>
        </p:spPr>
      </p:sp>
      <p:sp>
        <p:nvSpPr>
          <p:cNvPr id="23" name="Shape 21"/>
          <p:cNvSpPr/>
          <p:nvPr/>
        </p:nvSpPr>
        <p:spPr>
          <a:xfrm>
            <a:off x="3346704" y="2350008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346704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767328" y="2075688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Search Engine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36976" y="3154680"/>
            <a:ext cx="2606040" cy="1024128"/>
          </a:xfrm>
          <a:prstGeom prst="roundRect">
            <a:avLst>
              <a:gd name="adj" fmla="val 5357"/>
            </a:avLst>
          </a:prstGeom>
          <a:solidFill>
            <a:srgbClr val="EEF3FD"/>
          </a:solidFill>
          <a:ln/>
        </p:spPr>
      </p:sp>
      <p:sp>
        <p:nvSpPr>
          <p:cNvPr id="27" name="Shape 25"/>
          <p:cNvSpPr/>
          <p:nvPr/>
        </p:nvSpPr>
        <p:spPr>
          <a:xfrm>
            <a:off x="3346704" y="3483864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346704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767328" y="3209544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Booking Workflow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36976" y="4288536"/>
            <a:ext cx="2606040" cy="1024128"/>
          </a:xfrm>
          <a:prstGeom prst="roundRect">
            <a:avLst>
              <a:gd name="adj" fmla="val 5357"/>
            </a:avLst>
          </a:prstGeom>
          <a:solidFill>
            <a:srgbClr val="EEF3FD"/>
          </a:solidFill>
          <a:ln/>
        </p:spPr>
      </p:sp>
      <p:sp>
        <p:nvSpPr>
          <p:cNvPr id="31" name="Shape 29"/>
          <p:cNvSpPr/>
          <p:nvPr/>
        </p:nvSpPr>
        <p:spPr>
          <a:xfrm>
            <a:off x="3346704" y="461772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346704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3767328" y="43434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Rules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36976" y="5422392"/>
            <a:ext cx="2606040" cy="1024128"/>
          </a:xfrm>
          <a:prstGeom prst="roundRect">
            <a:avLst>
              <a:gd name="adj" fmla="val 5357"/>
            </a:avLst>
          </a:prstGeom>
          <a:solidFill>
            <a:srgbClr val="EEF3FD"/>
          </a:solidFill>
          <a:ln/>
        </p:spPr>
      </p:sp>
      <p:sp>
        <p:nvSpPr>
          <p:cNvPr id="35" name="Shape 33"/>
          <p:cNvSpPr/>
          <p:nvPr/>
        </p:nvSpPr>
        <p:spPr>
          <a:xfrm>
            <a:off x="3346704" y="5751576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346704" y="5751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3767328" y="5477256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Status Management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71032" y="141732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5E6BB8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971032" y="1417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Front-Desk Ops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971032" y="2020824"/>
            <a:ext cx="2606040" cy="1402080"/>
          </a:xfrm>
          <a:prstGeom prst="roundRect">
            <a:avLst>
              <a:gd name="adj" fmla="val 3913"/>
            </a:avLst>
          </a:prstGeom>
          <a:solidFill>
            <a:srgbClr val="EEF3FD"/>
          </a:solidFill>
          <a:ln/>
        </p:spPr>
      </p:sp>
      <p:sp>
        <p:nvSpPr>
          <p:cNvPr id="41" name="Shape 39"/>
          <p:cNvSpPr/>
          <p:nvPr/>
        </p:nvSpPr>
        <p:spPr>
          <a:xfrm>
            <a:off x="6080760" y="2538984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080760" y="2538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501384" y="2075688"/>
            <a:ext cx="1965960" cy="1292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/ Check-out Module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971032" y="3532632"/>
            <a:ext cx="2606040" cy="1402080"/>
          </a:xfrm>
          <a:prstGeom prst="roundRect">
            <a:avLst>
              <a:gd name="adj" fmla="val 3913"/>
            </a:avLst>
          </a:prstGeom>
          <a:solidFill>
            <a:srgbClr val="EEF3FD"/>
          </a:solidFill>
          <a:ln/>
        </p:spPr>
      </p:sp>
      <p:sp>
        <p:nvSpPr>
          <p:cNvPr id="45" name="Shape 43"/>
          <p:cNvSpPr/>
          <p:nvPr/>
        </p:nvSpPr>
        <p:spPr>
          <a:xfrm>
            <a:off x="6080760" y="4050792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080760" y="4050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501384" y="3587496"/>
            <a:ext cx="1965960" cy="1292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 Status Tracking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971032" y="5044440"/>
            <a:ext cx="2606040" cy="1402080"/>
          </a:xfrm>
          <a:prstGeom prst="roundRect">
            <a:avLst>
              <a:gd name="adj" fmla="val 3913"/>
            </a:avLst>
          </a:prstGeom>
          <a:solidFill>
            <a:srgbClr val="EEF3FD"/>
          </a:solidFill>
          <a:ln/>
        </p:spPr>
      </p:sp>
      <p:sp>
        <p:nvSpPr>
          <p:cNvPr id="49" name="Shape 47"/>
          <p:cNvSpPr/>
          <p:nvPr/>
        </p:nvSpPr>
        <p:spPr>
          <a:xfrm>
            <a:off x="6080760" y="556260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080760" y="5562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501384" y="5099304"/>
            <a:ext cx="1965960" cy="1292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&amp; Refund Engine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705088" y="141732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7E8AD1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8705088" y="1417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&amp; Admin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705088" y="2020824"/>
            <a:ext cx="2606040" cy="1402080"/>
          </a:xfrm>
          <a:prstGeom prst="roundRect">
            <a:avLst>
              <a:gd name="adj" fmla="val 3913"/>
            </a:avLst>
          </a:prstGeom>
          <a:solidFill>
            <a:srgbClr val="EEF3FD"/>
          </a:solidFill>
          <a:ln/>
        </p:spPr>
      </p:sp>
      <p:sp>
        <p:nvSpPr>
          <p:cNvPr id="55" name="Shape 53"/>
          <p:cNvSpPr/>
          <p:nvPr/>
        </p:nvSpPr>
        <p:spPr>
          <a:xfrm>
            <a:off x="8814816" y="2538984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8814816" y="2538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9235440" y="2075688"/>
            <a:ext cx="1965960" cy="1292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Booking History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705088" y="3532632"/>
            <a:ext cx="2606040" cy="1402080"/>
          </a:xfrm>
          <a:prstGeom prst="roundRect">
            <a:avLst>
              <a:gd name="adj" fmla="val 3913"/>
            </a:avLst>
          </a:prstGeom>
          <a:solidFill>
            <a:srgbClr val="EEF3FD"/>
          </a:solidFill>
          <a:ln/>
        </p:spPr>
      </p:sp>
      <p:sp>
        <p:nvSpPr>
          <p:cNvPr id="59" name="Shape 57"/>
          <p:cNvSpPr/>
          <p:nvPr/>
        </p:nvSpPr>
        <p:spPr>
          <a:xfrm>
            <a:off x="8814816" y="4050792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8814816" y="4050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9235440" y="3587496"/>
            <a:ext cx="1965960" cy="1292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Generation Summary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705088" y="5044440"/>
            <a:ext cx="2606040" cy="1402080"/>
          </a:xfrm>
          <a:prstGeom prst="roundRect">
            <a:avLst>
              <a:gd name="adj" fmla="val 3913"/>
            </a:avLst>
          </a:prstGeom>
          <a:solidFill>
            <a:srgbClr val="EEF3FD"/>
          </a:solidFill>
          <a:ln/>
        </p:spPr>
      </p:sp>
      <p:sp>
        <p:nvSpPr>
          <p:cNvPr id="63" name="Shape 61"/>
          <p:cNvSpPr/>
          <p:nvPr/>
        </p:nvSpPr>
        <p:spPr>
          <a:xfrm>
            <a:off x="8814816" y="556260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8814816" y="5562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9235440" y="5099304"/>
            <a:ext cx="1965960" cy="1292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Occupancy Reports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Horizon — Hotel Booking Platform</a:t>
            </a:r>
            <a:endParaRPr lang="en-US" sz="900" dirty="0"/>
          </a:p>
        </p:txBody>
      </p:sp>
      <p:sp>
        <p:nvSpPr>
          <p:cNvPr id="67" name="Text 65"/>
          <p:cNvSpPr txBox="1"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BOOKING LIFECYCLE, AS ENFORCED IN CODE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RESERVED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305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/bookings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record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044952" y="2071116"/>
            <a:ext cx="201168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8" name="Shape 6"/>
          <p:cNvSpPr/>
          <p:nvPr/>
        </p:nvSpPr>
        <p:spPr>
          <a:xfrm>
            <a:off x="3273552" y="169164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73552" y="17830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CONFIRMED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3364992" y="21305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/confirm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(staff/admin)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32704" y="2071116"/>
            <a:ext cx="201168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2" name="Shape 10"/>
          <p:cNvSpPr/>
          <p:nvPr/>
        </p:nvSpPr>
        <p:spPr>
          <a:xfrm>
            <a:off x="5861304" y="169164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61304" y="17830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CHECKED_IN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5952744" y="21305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/checkin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must be clean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220456" y="2071116"/>
            <a:ext cx="201168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6" name="Shape 14"/>
          <p:cNvSpPr/>
          <p:nvPr/>
        </p:nvSpPr>
        <p:spPr>
          <a:xfrm>
            <a:off x="8449056" y="169164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49056" y="17830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CHECKED_OUT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540496" y="21305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/checkout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→ dirty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3154680"/>
            <a:ext cx="4919472" cy="777240"/>
          </a:xfrm>
          <a:prstGeom prst="roundRect">
            <a:avLst>
              <a:gd name="adj" fmla="val 9412"/>
            </a:avLst>
          </a:prstGeom>
          <a:solidFill>
            <a:srgbClr val="C0392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3227832"/>
            <a:ext cx="4919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CANCELLED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3557016"/>
            <a:ext cx="4645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D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/cancel — allowed only from RESERVED or CONFIRMED  •  tiered refund calculated automatically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851660" y="2651760"/>
            <a:ext cx="1211580" cy="484632"/>
          </a:xfrm>
          <a:prstGeom prst="bentConnector2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2920" y="42062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Tiered Cancellation Refund (utils/cancellationPolicy.js)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4572000"/>
            <a:ext cx="3337560" cy="548640"/>
          </a:xfrm>
          <a:prstGeom prst="roundRect">
            <a:avLst>
              <a:gd name="adj" fmla="val 10000"/>
            </a:avLst>
          </a:prstGeom>
          <a:solidFill>
            <a:srgbClr val="EEF3F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2648" y="45720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 days before check-in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2743200" y="45720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refund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977640" y="4572000"/>
            <a:ext cx="3337560" cy="548640"/>
          </a:xfrm>
          <a:prstGeom prst="roundRect">
            <a:avLst>
              <a:gd name="adj" fmla="val 10000"/>
            </a:avLst>
          </a:prstGeom>
          <a:solidFill>
            <a:srgbClr val="EEF3F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087368" y="45720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days before check-in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45720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refund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452360" y="4572000"/>
            <a:ext cx="3337560" cy="548640"/>
          </a:xfrm>
          <a:prstGeom prst="roundRect">
            <a:avLst>
              <a:gd name="adj" fmla="val 10000"/>
            </a:avLst>
          </a:prstGeom>
          <a:solidFill>
            <a:srgbClr val="EEF3F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562088" y="45720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days before check-in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692640" y="45720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refund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Horizon — Hotel Booking Platform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DIRECTLY FROM MODELS/*.JS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 (6 Collections)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2606040" cy="384048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54480"/>
            <a:ext cx="2606040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3716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85216" y="1828800"/>
            <a:ext cx="23500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  PK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 (unique)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passwordHash  (bcrypt)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guest|staff|admin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0604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371600"/>
            <a:ext cx="2606040" cy="384048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554480"/>
            <a:ext cx="2606040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91840" y="13716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419856" y="1828800"/>
            <a:ext cx="23500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  PK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city, address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amenities[]  (embedded)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createdBy → Users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isActive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60604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371600"/>
            <a:ext cx="2606040" cy="384048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16" name="Shape 14"/>
          <p:cNvSpPr/>
          <p:nvPr/>
        </p:nvSpPr>
        <p:spPr>
          <a:xfrm>
            <a:off x="6126480" y="1554480"/>
            <a:ext cx="2606040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26480" y="13716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RoomTypes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54496" y="1828800"/>
            <a:ext cx="23500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  PK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hotelId → Hotels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description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basePrice, capacity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totalRooms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amenities[]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8961120" y="1371600"/>
            <a:ext cx="260604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1371600"/>
            <a:ext cx="2606040" cy="384048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21" name="Shape 19"/>
          <p:cNvSpPr/>
          <p:nvPr/>
        </p:nvSpPr>
        <p:spPr>
          <a:xfrm>
            <a:off x="8961120" y="1554480"/>
            <a:ext cx="2606040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961120" y="13716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089136" y="1828800"/>
            <a:ext cx="23500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  PK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roomTypeId → RoomTypes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roomNumber, floor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housekeepingStatus: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clean|dirty|inspected|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out_of_service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3291840" y="3840480"/>
            <a:ext cx="260604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0" y="3840480"/>
            <a:ext cx="2606040" cy="384048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26" name="Shape 24"/>
          <p:cNvSpPr/>
          <p:nvPr/>
        </p:nvSpPr>
        <p:spPr>
          <a:xfrm>
            <a:off x="3291840" y="4023360"/>
            <a:ext cx="2606040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291840" y="38404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PricingRules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419856" y="4297680"/>
            <a:ext cx="23500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  PK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roomTypeId → RoomTypes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ruleType: seasonal|weekend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startDate, endDate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isActive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6126480" y="3840480"/>
            <a:ext cx="260604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3840480"/>
            <a:ext cx="2606040" cy="384048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31" name="Shape 29"/>
          <p:cNvSpPr/>
          <p:nvPr/>
        </p:nvSpPr>
        <p:spPr>
          <a:xfrm>
            <a:off x="6126480" y="4023360"/>
            <a:ext cx="2606040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126480" y="38404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254496" y="4297680"/>
            <a:ext cx="23500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  PK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guestId, hotelId, roomTypeId,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roomId  (refs, roomId nullable)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checkIn, checkOut, status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statusHistory[]  (embedded)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6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baseAmount, taxAmount, total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3063240" y="2514600"/>
            <a:ext cx="228600" cy="9144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97880" y="2514600"/>
            <a:ext cx="228600" cy="9144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32520" y="2514600"/>
            <a:ext cx="228600" cy="9144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H="1">
            <a:off x="4594860" y="3566160"/>
            <a:ext cx="2171700" cy="27432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29500" y="3566160"/>
            <a:ext cx="9144" cy="27432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02920" y="6144768"/>
            <a:ext cx="11292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 amber lines = foreign-key references (ObjectId + ref). Bookings also references Users (guestId), Hotels (hotelId) and Rooms (roomId, assigned at check-in) — omitted above to keep the diagram readable. amenities[] and statusHistory[] are embedded sub-documents.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Horizon — Hotel Booking Platform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ROUTES ACROSS 8 ROUTERS + HEALTH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Endpoints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(3)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69164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124712" y="1673352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/api/auth/register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947672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194767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1124712" y="1929384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/api/auth/login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02920" y="2203704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" y="220370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1124712" y="2185416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/api/auth/me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3282696" y="14173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(6)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82696" y="1691640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282696" y="169164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3904488" y="1673352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/api/hotels/search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82696" y="1947672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282696" y="194767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3904488" y="1929384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/api/hotels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82696" y="2203704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282696" y="220370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3904488" y="2185416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/api/hotels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82696" y="2459736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282696" y="245973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3904488" y="2441448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/api/hotels/:id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82696" y="2715768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282696" y="27157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3904488" y="2697480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/api/hotels/:id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82696" y="2971800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282696" y="297180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3904488" y="2953512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/api/hotels/:id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6062472" y="14173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Types (5)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62472" y="1691640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062472" y="169164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6684264" y="1673352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/api/room-types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062472" y="1947672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062472" y="194767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6684264" y="1929384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/api/room-types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062472" y="2203704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062472" y="220370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42" name="Text 40"/>
          <p:cNvSpPr txBox="1"/>
          <p:nvPr/>
        </p:nvSpPr>
        <p:spPr>
          <a:xfrm>
            <a:off x="6684264" y="2185416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/api/room-types/:id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062472" y="2459736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062472" y="245973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6684264" y="2441448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/api/room-types/:id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062472" y="2715768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062472" y="27157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750" dirty="0"/>
          </a:p>
        </p:txBody>
      </p:sp>
      <p:sp>
        <p:nvSpPr>
          <p:cNvPr id="48" name="Text 46"/>
          <p:cNvSpPr txBox="1"/>
          <p:nvPr/>
        </p:nvSpPr>
        <p:spPr>
          <a:xfrm>
            <a:off x="6684264" y="2697480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/api/room-types/:id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8842248" y="14173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(3)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842248" y="1691640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8842248" y="169164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52" name="Text 50"/>
          <p:cNvSpPr txBox="1"/>
          <p:nvPr/>
        </p:nvSpPr>
        <p:spPr>
          <a:xfrm>
            <a:off x="9464040" y="1673352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/api/rooms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8842248" y="1947672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8842248" y="194767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55" name="Text 53"/>
          <p:cNvSpPr txBox="1"/>
          <p:nvPr/>
        </p:nvSpPr>
        <p:spPr>
          <a:xfrm>
            <a:off x="9464040" y="1929384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/api/rooms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8842248" y="2203704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842248" y="220370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750" dirty="0"/>
          </a:p>
        </p:txBody>
      </p:sp>
      <p:sp>
        <p:nvSpPr>
          <p:cNvPr id="58" name="Text 56"/>
          <p:cNvSpPr txBox="1"/>
          <p:nvPr/>
        </p:nvSpPr>
        <p:spPr>
          <a:xfrm>
            <a:off x="9464040" y="2185416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/api/rooms/:id/housekeeping</a:t>
            </a:r>
            <a:endParaRPr lang="en-US" sz="800" dirty="0"/>
          </a:p>
        </p:txBody>
      </p:sp>
      <p:sp>
        <p:nvSpPr>
          <p:cNvPr id="59" name="Text 57"/>
          <p:cNvSpPr txBox="1"/>
          <p:nvPr/>
        </p:nvSpPr>
        <p:spPr>
          <a:xfrm>
            <a:off x="502920" y="39319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Rules (4)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02920" y="4206240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502920" y="420624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62" name="Text 60"/>
          <p:cNvSpPr txBox="1"/>
          <p:nvPr/>
        </p:nvSpPr>
        <p:spPr>
          <a:xfrm>
            <a:off x="1124712" y="4187952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/api/pricing-rules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02920" y="4462272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502920" y="446227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65" name="Text 63"/>
          <p:cNvSpPr txBox="1"/>
          <p:nvPr/>
        </p:nvSpPr>
        <p:spPr>
          <a:xfrm>
            <a:off x="1124712" y="4443984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/api/pricing-rules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02920" y="4718304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502920" y="471830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750" dirty="0"/>
          </a:p>
        </p:txBody>
      </p:sp>
      <p:sp>
        <p:nvSpPr>
          <p:cNvPr id="68" name="Text 66"/>
          <p:cNvSpPr txBox="1"/>
          <p:nvPr/>
        </p:nvSpPr>
        <p:spPr>
          <a:xfrm>
            <a:off x="1124712" y="4700016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/api/pricing-rules/:id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02920" y="4974336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502920" y="497433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750" dirty="0"/>
          </a:p>
        </p:txBody>
      </p:sp>
      <p:sp>
        <p:nvSpPr>
          <p:cNvPr id="71" name="Text 69"/>
          <p:cNvSpPr txBox="1"/>
          <p:nvPr/>
        </p:nvSpPr>
        <p:spPr>
          <a:xfrm>
            <a:off x="1124712" y="4956048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/api/pricing-rules/:id</a:t>
            </a:r>
            <a:endParaRPr lang="en-US" sz="800" dirty="0"/>
          </a:p>
        </p:txBody>
      </p:sp>
      <p:sp>
        <p:nvSpPr>
          <p:cNvPr id="72" name="Text 70"/>
          <p:cNvSpPr txBox="1"/>
          <p:nvPr/>
        </p:nvSpPr>
        <p:spPr>
          <a:xfrm>
            <a:off x="3282696" y="39319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(8)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3282696" y="4206240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3282696" y="420624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75" name="Text 73"/>
          <p:cNvSpPr txBox="1"/>
          <p:nvPr/>
        </p:nvSpPr>
        <p:spPr>
          <a:xfrm>
            <a:off x="3904488" y="4187952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/api/bookings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3282696" y="4462272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3282696" y="446227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78" name="Text 76"/>
          <p:cNvSpPr txBox="1"/>
          <p:nvPr/>
        </p:nvSpPr>
        <p:spPr>
          <a:xfrm>
            <a:off x="3904488" y="4443984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/api/bookings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3282696" y="4718304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3282696" y="471830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81" name="Text 79"/>
          <p:cNvSpPr txBox="1"/>
          <p:nvPr/>
        </p:nvSpPr>
        <p:spPr>
          <a:xfrm>
            <a:off x="3904488" y="4700016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/api/bookings/:id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3282696" y="4974336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3282696" y="497433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84" name="Text 82"/>
          <p:cNvSpPr txBox="1"/>
          <p:nvPr/>
        </p:nvSpPr>
        <p:spPr>
          <a:xfrm>
            <a:off x="3904488" y="4956048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/api/bookings/:id/invoice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3282696" y="5230368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3282696" y="52303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750" dirty="0"/>
          </a:p>
        </p:txBody>
      </p:sp>
      <p:sp>
        <p:nvSpPr>
          <p:cNvPr id="87" name="Text 85"/>
          <p:cNvSpPr txBox="1"/>
          <p:nvPr/>
        </p:nvSpPr>
        <p:spPr>
          <a:xfrm>
            <a:off x="3904488" y="5212080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/api/bookings/:id/confirm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3282696" y="5486400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3282696" y="548640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750" dirty="0"/>
          </a:p>
        </p:txBody>
      </p:sp>
      <p:sp>
        <p:nvSpPr>
          <p:cNvPr id="90" name="Text 88"/>
          <p:cNvSpPr txBox="1"/>
          <p:nvPr/>
        </p:nvSpPr>
        <p:spPr>
          <a:xfrm>
            <a:off x="3904488" y="5468112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/api/bookings/:id/checkin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3282696" y="5742432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3282696" y="574243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750" dirty="0"/>
          </a:p>
        </p:txBody>
      </p:sp>
      <p:sp>
        <p:nvSpPr>
          <p:cNvPr id="93" name="Text 91"/>
          <p:cNvSpPr txBox="1"/>
          <p:nvPr/>
        </p:nvSpPr>
        <p:spPr>
          <a:xfrm>
            <a:off x="3904488" y="5724144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/api/bookings/:id/checkout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3282696" y="5998464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3282696" y="599846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750" dirty="0"/>
          </a:p>
        </p:txBody>
      </p:sp>
      <p:sp>
        <p:nvSpPr>
          <p:cNvPr id="96" name="Text 94"/>
          <p:cNvSpPr txBox="1"/>
          <p:nvPr/>
        </p:nvSpPr>
        <p:spPr>
          <a:xfrm>
            <a:off x="3904488" y="5980176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/api/bookings/:id/cancel</a:t>
            </a:r>
            <a:endParaRPr lang="en-US" sz="800" dirty="0"/>
          </a:p>
        </p:txBody>
      </p:sp>
      <p:sp>
        <p:nvSpPr>
          <p:cNvPr id="97" name="Text 95"/>
          <p:cNvSpPr txBox="1"/>
          <p:nvPr/>
        </p:nvSpPr>
        <p:spPr>
          <a:xfrm>
            <a:off x="6062472" y="39319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&amp; Admin (2)</a:t>
            </a:r>
            <a:endParaRPr lang="en-US" sz="1050" dirty="0"/>
          </a:p>
        </p:txBody>
      </p:sp>
      <p:sp>
        <p:nvSpPr>
          <p:cNvPr id="98" name="Shape 96"/>
          <p:cNvSpPr/>
          <p:nvPr/>
        </p:nvSpPr>
        <p:spPr>
          <a:xfrm>
            <a:off x="6062472" y="4206240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6062472" y="420624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100" name="Text 98"/>
          <p:cNvSpPr txBox="1"/>
          <p:nvPr/>
        </p:nvSpPr>
        <p:spPr>
          <a:xfrm>
            <a:off x="6684264" y="4187952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/api/guests/:id/bookings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6062472" y="4462272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102" name="Text 100"/>
          <p:cNvSpPr txBox="1"/>
          <p:nvPr/>
        </p:nvSpPr>
        <p:spPr>
          <a:xfrm>
            <a:off x="6062472" y="446227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103" name="Text 101"/>
          <p:cNvSpPr txBox="1"/>
          <p:nvPr/>
        </p:nvSpPr>
        <p:spPr>
          <a:xfrm>
            <a:off x="6684264" y="4443984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/api/admin/reports/occupancy</a:t>
            </a:r>
            <a:endParaRPr lang="en-US" sz="800" dirty="0"/>
          </a:p>
        </p:txBody>
      </p:sp>
      <p:sp>
        <p:nvSpPr>
          <p:cNvPr id="104" name="Text 102"/>
          <p:cNvSpPr txBox="1"/>
          <p:nvPr/>
        </p:nvSpPr>
        <p:spPr>
          <a:xfrm>
            <a:off x="8842248" y="39319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(1)</a:t>
            </a:r>
            <a:endParaRPr lang="en-US" sz="1050" dirty="0"/>
          </a:p>
        </p:txBody>
      </p:sp>
      <p:sp>
        <p:nvSpPr>
          <p:cNvPr id="105" name="Shape 103"/>
          <p:cNvSpPr/>
          <p:nvPr/>
        </p:nvSpPr>
        <p:spPr>
          <a:xfrm>
            <a:off x="8842248" y="4206240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8842248" y="420624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107" name="Text 105"/>
          <p:cNvSpPr txBox="1"/>
          <p:nvPr/>
        </p:nvSpPr>
        <p:spPr>
          <a:xfrm>
            <a:off x="9464040" y="4187952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/api/health</a:t>
            </a:r>
            <a:endParaRPr lang="en-US" sz="800" dirty="0"/>
          </a:p>
        </p:txBody>
      </p:sp>
      <p:sp>
        <p:nvSpPr>
          <p:cNvPr id="108" name="Text 106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Horizon — Hotel Booking Platform</a:t>
            </a:r>
            <a:endParaRPr lang="en-US" sz="900" dirty="0"/>
          </a:p>
        </p:txBody>
      </p:sp>
      <p:sp>
        <p:nvSpPr>
          <p:cNvPr id="109" name="Text 107"/>
          <p:cNvSpPr txBox="1"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REQUEST / RESPONSE PAIRS FROM THE CONTROLLERS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API Demonstration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581912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7512" y="1581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58191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/api/auth/register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120640" y="15819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120640" y="15819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1965960"/>
            <a:ext cx="2491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2194560"/>
            <a:ext cx="24917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"Priya Nair",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"email": "priya@mail.com",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"password": "Secret123!",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"phone": "9876543210"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314700" y="1965960"/>
            <a:ext cx="2491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 (200-level)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3314700" y="2194560"/>
            <a:ext cx="24917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"success": true,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"message": "Record created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successfully",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"data": {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"_id": "...", "role": "guest",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"...", "email": "...",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"token": "&lt;JWT&gt;" } }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72200" y="141732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6336792" y="1581912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36792" y="15819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158191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/api/bookings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789920" y="15819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789920" y="15819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36792" y="1965960"/>
            <a:ext cx="2491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336792" y="2194560"/>
            <a:ext cx="24917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"hotelId": "665...",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"roomTypeId": "665...",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"checkIn": "2026-10-10",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"checkOut": "2026-10-12",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"numGuests": 2, "numRooms": 1 }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983980" y="1965960"/>
            <a:ext cx="2491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 (200-level)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983980" y="2194560"/>
            <a:ext cx="24917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"success": true,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"data": {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"status": "reserved",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"baseAmount": 8400,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"taxAmount": 1008,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"totalAmount": 9408,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"statusHistory": [ {...} ] } }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397764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25" name="Shape 23"/>
          <p:cNvSpPr/>
          <p:nvPr/>
        </p:nvSpPr>
        <p:spPr>
          <a:xfrm>
            <a:off x="667512" y="4142232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7512" y="414223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41422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/api/bookings/:id/cancel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20640" y="414223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120640" y="414223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67512" y="4526280"/>
            <a:ext cx="2491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667512" y="4754880"/>
            <a:ext cx="24917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"reason": "Change of plans"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guest cancelling own booking,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 days before check-in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3314700" y="4526280"/>
            <a:ext cx="2491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 (200-level)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3314700" y="4754880"/>
            <a:ext cx="24917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"data": {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"status": "cancelled",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"cancellation": {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"refundPercentage": 50,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"refundAmount": 4704 } } }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72200" y="397764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35" name="Shape 33"/>
          <p:cNvSpPr/>
          <p:nvPr/>
        </p:nvSpPr>
        <p:spPr>
          <a:xfrm>
            <a:off x="6336792" y="4142232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336792" y="414223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7086600" y="41422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/api/bookings  (invalid dates)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789920" y="414223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0789920" y="414223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336792" y="4526280"/>
            <a:ext cx="2491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6336792" y="4754880"/>
            <a:ext cx="24917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"checkIn": "2026-10-12",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"checkOut": "2026-10-10"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checkOut not greater than checkIn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8983980" y="4526280"/>
            <a:ext cx="2491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 (200-level)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8983980" y="4754880"/>
            <a:ext cx="24917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"success": false,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"message": "\"checkOut\" must be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greater than \"ref:checkIn\"",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"errorCode": "VALIDATION_ERROR" }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Horizon — Hotel Booking Platform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CONCERNS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Authentication, Validation &amp; Error Handling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EEF3FD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6276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/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1687068"/>
            <a:ext cx="338328" cy="3383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6276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Authentication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67512" y="2176272"/>
            <a:ext cx="3282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utils/token.js signs { id, role } on register / login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middleware/auth.js — protect() verifies the Bearer token, attaches req.user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97680" y="146304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EEF3FD"/>
          </a:solidFill>
          <a:ln/>
        </p:spPr>
      </p:sp>
      <p:sp>
        <p:nvSpPr>
          <p:cNvPr id="10" name="Shape 7"/>
          <p:cNvSpPr/>
          <p:nvPr/>
        </p:nvSpPr>
        <p:spPr>
          <a:xfrm>
            <a:off x="4462272" y="16276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ppt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708" y="1687068"/>
            <a:ext cx="338328" cy="33832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29200" y="16276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 Security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462272" y="2176272"/>
            <a:ext cx="3282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bcryptjs.genSalt(10) + hash() in authController.register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passwordHash field has select:false — never returned by default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092440" y="146304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EEF3FD"/>
          </a:solidFill>
          <a:ln/>
        </p:spPr>
      </p:sp>
      <p:sp>
        <p:nvSpPr>
          <p:cNvPr id="15" name="Shape 11"/>
          <p:cNvSpPr/>
          <p:nvPr/>
        </p:nvSpPr>
        <p:spPr>
          <a:xfrm>
            <a:off x="8257032" y="16276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ppt/icons/toggle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6468" y="1687068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823960" y="16276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 (RBAC)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8257032" y="2176272"/>
            <a:ext cx="3282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authorize(...roles) middleware — 3 roles: guest, staff, admin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Wrong role → 403 FORBIDDEN; missing/expired token → 401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02920" y="329184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EEF3FD"/>
          </a:solidFill>
          <a:ln/>
        </p:spPr>
      </p:sp>
      <p:sp>
        <p:nvSpPr>
          <p:cNvPr id="20" name="Shape 15"/>
          <p:cNvSpPr/>
          <p:nvPr/>
        </p:nvSpPr>
        <p:spPr>
          <a:xfrm>
            <a:off x="667512" y="34564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ppt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" y="3515868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34440" y="34564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 Request Validation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667512" y="4005072"/>
            <a:ext cx="3282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middleware/validate.js wraps any Joi schema for body or query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validator files — auth, booking, hotel, pricing, room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297680" y="329184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EEF3FD"/>
          </a:solidFill>
          <a:ln/>
        </p:spPr>
      </p:sp>
      <p:sp>
        <p:nvSpPr>
          <p:cNvPr id="25" name="Shape 19"/>
          <p:cNvSpPr/>
          <p:nvPr/>
        </p:nvSpPr>
        <p:spPr>
          <a:xfrm>
            <a:off x="4462272" y="34564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ppt/icons/triangleExcla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1708" y="3515868"/>
            <a:ext cx="338328" cy="33832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029200" y="34564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 Error Handling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4462272" y="4005072"/>
            <a:ext cx="3282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middleware/errorHandler.js — registered last in server.js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Normalizes CastError, duplicate-key (11000) &amp; ValidationError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8092440" y="329184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EEF3FD"/>
          </a:solidFill>
          <a:ln/>
        </p:spPr>
      </p:sp>
      <p:sp>
        <p:nvSpPr>
          <p:cNvPr id="30" name="Shape 23"/>
          <p:cNvSpPr/>
          <p:nvPr/>
        </p:nvSpPr>
        <p:spPr>
          <a:xfrm>
            <a:off x="8257032" y="34564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ppt/icons/gea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6468" y="3515868"/>
            <a:ext cx="338328" cy="33832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823960" y="34564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JSON Envelope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8257032" y="4005072"/>
            <a:ext cx="3282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response: { success, message, data | errorCode }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asyncHandler.js forwards rejected promises to the error handler</a:t>
            </a:r>
            <a:endParaRPr lang="en-US" sz="950" dirty="0"/>
          </a:p>
        </p:txBody>
      </p:sp>
      <p:sp>
        <p:nvSpPr>
          <p:cNvPr id="34" name="Text 26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Horizon — Hotel Booking Platform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LAYOUT &amp; REPOSITORY HYGIENE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Structure &amp; GitHub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303520" cy="4709160"/>
          </a:xfrm>
          <a:prstGeom prst="roundRect">
            <a:avLst>
              <a:gd name="adj" fmla="val 155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48463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hotel-booking-platform/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config/       db.js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controllers/ 9 files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middleware/  auth, errorHandler, validate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models/      6 Mongoose schemas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routes/      8 routers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validators/  5 Joi schema files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utils/       pricingEngine, availability,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cancellationPolicy, seed, token …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public/      demo frontend (HTML/CSS/JS)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test/        test.js — custom e2e suite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postman_collection.json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.env.example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4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server.js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0" y="146304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7" name="Image 0" descr="/home/claude/ppt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3606" y="1512966"/>
            <a:ext cx="284196" cy="2841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086600" y="1417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README.md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086600" y="17099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— includes team details, module matrix, ER diagram, setup steps, API list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583680" y="2350008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1" name="Image 1" descr="/home/claude/ppt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606" y="2399934"/>
            <a:ext cx="284196" cy="2841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86600" y="23042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.gitignore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7086600" y="259689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— excludes node_modules/, .env, *.log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583680" y="3236976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5" name="Image 2" descr="/home/claude/ppt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606" y="3286902"/>
            <a:ext cx="284196" cy="28419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86600" y="31912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.env.example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7086600" y="34838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— documents PORT, MONGO_URI, JWT_SECRET, TAX_RATE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583680" y="4123944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9" name="Image 3" descr="/home/claude/ppt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606" y="4173870"/>
            <a:ext cx="284196" cy="28419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086600" y="40782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secrets committed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7086600" y="43708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is not tracked in the repository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6583680" y="5010912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23" name="Image 4" descr="/home/claude/ppt/icons/triangleExcla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3606" y="5060838"/>
            <a:ext cx="284196" cy="28419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086600" y="49651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history</a:t>
            </a:r>
            <a:endParaRPr lang="en-US" sz="1250" dirty="0"/>
          </a:p>
        </p:txBody>
      </p:sp>
      <p:sp>
        <p:nvSpPr>
          <p:cNvPr id="25" name="Text 18"/>
          <p:cNvSpPr txBox="1"/>
          <p:nvPr/>
        </p:nvSpPr>
        <p:spPr>
          <a:xfrm>
            <a:off x="7086600" y="52578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contributing GitHub accounts visible so far; ensure remaining teammates’ commits are pushed under their own accounts before final submission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Horizon — Hotel Booking Platform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BUILDING THIS ACTUALLY TAUGHT THE TEAM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/icons/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613916"/>
            <a:ext cx="338328" cy="3383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5087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a real state machine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1819656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reserved → confirmed → checked_in → checked_out as explicit, guarded transitions — not just a free-text status field — taught us why 409 Conflict exists.</a:t>
            </a:r>
            <a:endParaRPr lang="en-US" sz="1030" dirty="0"/>
          </a:p>
        </p:txBody>
      </p:sp>
      <p:sp>
        <p:nvSpPr>
          <p:cNvPr id="8" name="Shape 5"/>
          <p:cNvSpPr/>
          <p:nvPr/>
        </p:nvSpPr>
        <p:spPr>
          <a:xfrm>
            <a:off x="5943600" y="1554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home/claude/ppt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036" y="1613916"/>
            <a:ext cx="338328" cy="33832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537960" y="15087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 vs. reference, in practice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537960" y="1819656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statusHistory and amenities[] should be embedded, while guestId / hotelId / roomTypeId should be references, based on how each field is actually queried.</a:t>
            </a:r>
            <a:endParaRPr lang="en-US" sz="1030" dirty="0"/>
          </a:p>
        </p:txBody>
      </p:sp>
      <p:sp>
        <p:nvSpPr>
          <p:cNvPr id="12" name="Shape 8"/>
          <p:cNvSpPr/>
          <p:nvPr/>
        </p:nvSpPr>
        <p:spPr>
          <a:xfrm>
            <a:off x="502920" y="3154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ppt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" y="3214116"/>
            <a:ext cx="338328" cy="33832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97280" y="31089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+ RBAC end to end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1097280" y="3419856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token issuance, protect() verification and authorize(...roles) together across 8 routers, instead of checking roles ad-hoc in each controller.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5943600" y="3154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/home/claude/ppt/icons/gea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3036" y="3214116"/>
            <a:ext cx="338328" cy="33832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537960" y="31089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Middleware composition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6537960" y="3419856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validate(schema) → protect → authorize → controller in Express taught us how middleware order changes behaviour.</a:t>
            </a:r>
            <a:endParaRPr lang="en-US" sz="1030" dirty="0"/>
          </a:p>
        </p:txBody>
      </p:sp>
      <p:sp>
        <p:nvSpPr>
          <p:cNvPr id="20" name="Shape 14"/>
          <p:cNvSpPr/>
          <p:nvPr/>
        </p:nvSpPr>
        <p:spPr>
          <a:xfrm>
            <a:off x="502920" y="47548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4" descr="/home/claude/ppt/icons/moneyBillWav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" y="4814316"/>
            <a:ext cx="338328" cy="33832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97280" y="4709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Date-driven business logic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1097280" y="5020056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night-by-night pricing walk (utils/pricingEngine.js) that layers seasonal and weekend rules is a different skill from simple CRUD.</a:t>
            </a:r>
            <a:endParaRPr lang="en-US" sz="1030" dirty="0"/>
          </a:p>
        </p:txBody>
      </p:sp>
      <p:sp>
        <p:nvSpPr>
          <p:cNvPr id="24" name="Shape 17"/>
          <p:cNvSpPr/>
          <p:nvPr/>
        </p:nvSpPr>
        <p:spPr>
          <a:xfrm>
            <a:off x="5943600" y="47548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5" descr="/home/claude/ppt/icons/cod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3036" y="4814316"/>
            <a:ext cx="338328" cy="33832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537960" y="4709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without a framework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6537960" y="5020056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test/test.js as a dependency-free e2e suite forced us to understand exactly what each endpoint should return.</a:t>
            </a:r>
            <a:endParaRPr lang="en-US" sz="1030" dirty="0"/>
          </a:p>
        </p:txBody>
      </p:sp>
      <p:sp>
        <p:nvSpPr>
          <p:cNvPr id="28" name="Text 20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Horizon — Hotel Booking Platform</a:t>
            </a:r>
            <a:endParaRPr lang="en-US" sz="900" dirty="0"/>
          </a:p>
        </p:txBody>
      </p:sp>
      <p:sp>
        <p:nvSpPr>
          <p:cNvPr id="29" name="Text 21"/>
          <p:cNvSpPr txBox="1"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PROBLEMS THE IMPLEMENTATION HAD TO SOLVE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074920" cy="914400"/>
          </a:xfrm>
          <a:prstGeom prst="roundRect">
            <a:avLst>
              <a:gd name="adj" fmla="val 7000"/>
            </a:avLst>
          </a:prstGeom>
          <a:solidFill>
            <a:srgbClr val="141A47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" y="1581912"/>
            <a:ext cx="4754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double-booking under concurrent requests</a:t>
            </a:r>
            <a:endParaRPr lang="en-US" sz="1030" dirty="0"/>
          </a:p>
        </p:txBody>
      </p:sp>
      <p:sp>
        <p:nvSpPr>
          <p:cNvPr id="6" name="Shape 4"/>
          <p:cNvSpPr/>
          <p:nvPr/>
        </p:nvSpPr>
        <p:spPr>
          <a:xfrm>
            <a:off x="5623560" y="1856232"/>
            <a:ext cx="320040" cy="219456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7" name="Shape 5"/>
          <p:cNvSpPr/>
          <p:nvPr/>
        </p:nvSpPr>
        <p:spPr>
          <a:xfrm>
            <a:off x="6035040" y="1508760"/>
            <a:ext cx="5074920" cy="914400"/>
          </a:xfrm>
          <a:prstGeom prst="roundRect">
            <a:avLst>
              <a:gd name="adj" fmla="val 7000"/>
            </a:avLst>
          </a:prstGeom>
          <a:solidFill>
            <a:srgbClr val="24318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99632" y="1563624"/>
            <a:ext cx="4754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interval-overlap query (checkIn &lt; reqEnd &amp;&amp; checkOut &gt; reqStart) filters only active-status bookings before confirming any new reservation.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502920" y="2514600"/>
            <a:ext cx="5074920" cy="914400"/>
          </a:xfrm>
          <a:prstGeom prst="roundRect">
            <a:avLst>
              <a:gd name="adj" fmla="val 7000"/>
            </a:avLst>
          </a:prstGeom>
          <a:solidFill>
            <a:srgbClr val="141A47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7512" y="2587752"/>
            <a:ext cx="4754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invalid status transitions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5623560" y="2862072"/>
            <a:ext cx="320040" cy="219456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2" name="Shape 10"/>
          <p:cNvSpPr/>
          <p:nvPr/>
        </p:nvSpPr>
        <p:spPr>
          <a:xfrm>
            <a:off x="6035040" y="2514600"/>
            <a:ext cx="5074920" cy="914400"/>
          </a:xfrm>
          <a:prstGeom prst="roundRect">
            <a:avLst>
              <a:gd name="adj" fmla="val 7000"/>
            </a:avLst>
          </a:prstGeom>
          <a:solidFill>
            <a:srgbClr val="24318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99632" y="2569464"/>
            <a:ext cx="4754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transition (confirm / check-in / check-out / cancel) is guarded with an explicit status check that throws 409 Conflict on an out-of-order request.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502920" y="3520440"/>
            <a:ext cx="5074920" cy="914400"/>
          </a:xfrm>
          <a:prstGeom prst="roundRect">
            <a:avLst>
              <a:gd name="adj" fmla="val 7000"/>
            </a:avLst>
          </a:prstGeom>
          <a:solidFill>
            <a:srgbClr val="141A47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" y="3593592"/>
            <a:ext cx="4754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date-dependent dynamic rates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5623560" y="3867912"/>
            <a:ext cx="320040" cy="219456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7" name="Shape 15"/>
          <p:cNvSpPr/>
          <p:nvPr/>
        </p:nvSpPr>
        <p:spPr>
          <a:xfrm>
            <a:off x="6035040" y="3520440"/>
            <a:ext cx="5074920" cy="914400"/>
          </a:xfrm>
          <a:prstGeom prst="roundRect">
            <a:avLst>
              <a:gd name="adj" fmla="val 7000"/>
            </a:avLst>
          </a:prstGeom>
          <a:solidFill>
            <a:srgbClr val="24318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99632" y="3575304"/>
            <a:ext cx="4754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pricingEngine.js walks the stay night-by-night, applying the highest-priority rule (seasonal, then weekend, then base price) per night rather than a single flat multiplier.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502920" y="4526280"/>
            <a:ext cx="5074920" cy="914400"/>
          </a:xfrm>
          <a:prstGeom prst="roundRect">
            <a:avLst>
              <a:gd name="adj" fmla="val 7000"/>
            </a:avLst>
          </a:prstGeom>
          <a:solidFill>
            <a:srgbClr val="141A47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7512" y="4599432"/>
            <a:ext cx="4754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room inventory &amp; housekeeping in sync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5623560" y="4873752"/>
            <a:ext cx="320040" cy="219456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22" name="Shape 20"/>
          <p:cNvSpPr/>
          <p:nvPr/>
        </p:nvSpPr>
        <p:spPr>
          <a:xfrm>
            <a:off x="6035040" y="4526280"/>
            <a:ext cx="5074920" cy="914400"/>
          </a:xfrm>
          <a:prstGeom prst="roundRect">
            <a:avLst>
              <a:gd name="adj" fmla="val 7000"/>
            </a:avLst>
          </a:prstGeom>
          <a:solidFill>
            <a:srgbClr val="24318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99632" y="4581144"/>
            <a:ext cx="4754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room type auto-provisions its physical Room documents; checkout automatically flags the assigned room "dirty" until housekeeping clears it.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502920" y="5532120"/>
            <a:ext cx="5074920" cy="914400"/>
          </a:xfrm>
          <a:prstGeom prst="roundRect">
            <a:avLst>
              <a:gd name="adj" fmla="val 7000"/>
            </a:avLst>
          </a:prstGeom>
          <a:solidFill>
            <a:srgbClr val="141A47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7512" y="5605272"/>
            <a:ext cx="4754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error responses across failure types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5623560" y="5879592"/>
            <a:ext cx="320040" cy="219456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27" name="Shape 25"/>
          <p:cNvSpPr/>
          <p:nvPr/>
        </p:nvSpPr>
        <p:spPr>
          <a:xfrm>
            <a:off x="6035040" y="5532120"/>
            <a:ext cx="5074920" cy="914400"/>
          </a:xfrm>
          <a:prstGeom prst="roundRect">
            <a:avLst>
              <a:gd name="adj" fmla="val 7000"/>
            </a:avLst>
          </a:prstGeom>
          <a:solidFill>
            <a:srgbClr val="24318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99632" y="5586984"/>
            <a:ext cx="4754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errorHandler.js normalizes Mongoose CastError, duplicate-key (11000) and ValidationError into one consistent { success, message, errorCode } shape.</a:t>
            </a:r>
            <a:endParaRPr lang="en-US" sz="96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Horizon — Hotel Booking Platform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0292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4" name="Image 0" descr="/home/claude/ppt/icons/flagChecke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187" y="580187"/>
            <a:ext cx="439826" cy="43982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5029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DEMO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1887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Complete, Working Backend System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1031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/ 12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implemented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3108960" y="21031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3108960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715000" y="21031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5715000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collections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21031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8321040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roles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333756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booking lifecycle — reserve, confirm, check-in, check-out, cancel with tiered refunds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JWT authentication with bcrypt hashing and 3-tier RBAC (guest / staff / admin)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Dynamic, night-by-night pricing engine with seasonal &amp; weekend multipliers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Centralized Joi validation and consistent, centralized JSON error handling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Vanilla JS demo frontend + a 37-request Postman collection for evaluation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02920" y="5349240"/>
            <a:ext cx="5760720" cy="502920"/>
          </a:xfrm>
          <a:prstGeom prst="roundRect">
            <a:avLst>
              <a:gd name="adj" fmla="val 49091"/>
            </a:avLst>
          </a:prstGeom>
          <a:solidFill>
            <a:srgbClr val="141A47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57784" y="5367528"/>
            <a:ext cx="402336" cy="402336"/>
          </a:xfrm>
          <a:prstGeom prst="ellipse">
            <a:avLst/>
          </a:prstGeom>
          <a:solidFill>
            <a:srgbClr val="141A47"/>
          </a:solidFill>
          <a:ln/>
        </p:spPr>
      </p:sp>
      <p:pic>
        <p:nvPicPr>
          <p:cNvPr id="18" name="Image 1" descr="/home/claude/ppt/icons/gith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88" y="5419832"/>
            <a:ext cx="297729" cy="297729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051560" y="53492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github.com/annmary-aaa/hotel-booking-platform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502920" y="6035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—  Questions &amp; Viva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Horizon — Hotel Booking Platform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2026-09-09T18:18:49Z</dcterms:created>
  <dcterms:modified xsi:type="dcterms:W3CDTF">2026-09-09T18:18:49Z</dcterms:modified>
</cp:coreProperties>
</file>